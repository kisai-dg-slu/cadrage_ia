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Lst>
  <p:sldSz cy="5143500" cx="9144000"/>
  <p:notesSz cx="6858000" cy="9144000"/>
  <p:embeddedFontLst>
    <p:embeddedFont>
      <p:font typeface="Nunito"/>
      <p:regular r:id="rId8"/>
      <p:bold r:id="rId9"/>
      <p:italic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font" Target="fonts/Nunito-boldItalic.fntdata"/><Relationship Id="rId10" Type="http://schemas.openxmlformats.org/officeDocument/2006/relationships/font" Target="fonts/Nunito-italic.fntdata"/><Relationship Id="rId9" Type="http://schemas.openxmlformats.org/officeDocument/2006/relationships/font" Target="fonts/Nunito-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font" Target="fonts/Nuni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5f593ddc2c_0_9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5f593ddc2c_0_9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Couvrir un petit périmètre. Parraléliser l’extention au périmètre suivant ainsi que la pérénisation. Pour la pérénisation, toujours raisonner en terme de loi 80/20.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5f593ddc2c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5f593ddc2c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Couvrir un petit périmètre. Parraléliser l’extention au périmètre suivant ainsi que la pérénisation. Pour la pérénisation, toujours raisonner en terme de loi 80/20.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1303800" y="598575"/>
            <a:ext cx="7568400" cy="582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Concepts clés au sein d’une timeline</a:t>
            </a:r>
            <a:endParaRPr/>
          </a:p>
          <a:p>
            <a:pPr indent="0" lvl="0" marL="0" rtl="0" algn="l">
              <a:spcBef>
                <a:spcPts val="0"/>
              </a:spcBef>
              <a:spcAft>
                <a:spcPts val="0"/>
              </a:spcAft>
              <a:buNone/>
            </a:pPr>
            <a:r>
              <a:t/>
            </a:r>
            <a:endParaRPr/>
          </a:p>
        </p:txBody>
      </p:sp>
      <p:sp>
        <p:nvSpPr>
          <p:cNvPr id="55" name="Google Shape;55;p13"/>
          <p:cNvSpPr txBox="1"/>
          <p:nvPr/>
        </p:nvSpPr>
        <p:spPr>
          <a:xfrm>
            <a:off x="350050" y="1360325"/>
            <a:ext cx="8251800" cy="54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000">
                <a:solidFill>
                  <a:schemeClr val="accent3"/>
                </a:solidFill>
                <a:latin typeface="Nunito"/>
                <a:ea typeface="Nunito"/>
                <a:cs typeface="Nunito"/>
                <a:sym typeface="Nunito"/>
              </a:rPr>
              <a:t>PoC</a:t>
            </a:r>
            <a:r>
              <a:rPr b="1" lang="fr" sz="1000">
                <a:solidFill>
                  <a:schemeClr val="accent3"/>
                </a:solidFill>
                <a:latin typeface="Nunito"/>
                <a:ea typeface="Nunito"/>
                <a:cs typeface="Nunito"/>
                <a:sym typeface="Nunito"/>
              </a:rPr>
              <a:t>:</a:t>
            </a:r>
            <a:r>
              <a:rPr lang="fr" sz="1000">
                <a:solidFill>
                  <a:schemeClr val="dk2"/>
                </a:solidFill>
                <a:latin typeface="Nunito"/>
                <a:ea typeface="Nunito"/>
                <a:cs typeface="Nunito"/>
                <a:sym typeface="Nunito"/>
              </a:rPr>
              <a:t> </a:t>
            </a:r>
            <a:r>
              <a:rPr lang="fr" sz="1000">
                <a:solidFill>
                  <a:schemeClr val="dk2"/>
                </a:solidFill>
                <a:latin typeface="Nunito"/>
                <a:ea typeface="Nunito"/>
                <a:cs typeface="Nunito"/>
                <a:sym typeface="Nunito"/>
              </a:rPr>
              <a:t>Une preuve de concept est une version expérimentale d’une solution, développée pour tester la faisabilité technique d’une idée. Elle sert à vérifier qu’un concept fonctionne, sans chercher à le rendre complet ou industrialisable.</a:t>
            </a:r>
            <a:endParaRPr sz="1000">
              <a:solidFill>
                <a:schemeClr val="dk2"/>
              </a:solidFill>
              <a:latin typeface="Nunito"/>
              <a:ea typeface="Nunito"/>
              <a:cs typeface="Nunito"/>
              <a:sym typeface="Nunito"/>
            </a:endParaRPr>
          </a:p>
        </p:txBody>
      </p:sp>
      <p:sp>
        <p:nvSpPr>
          <p:cNvPr id="56" name="Google Shape;56;p13"/>
          <p:cNvSpPr txBox="1"/>
          <p:nvPr/>
        </p:nvSpPr>
        <p:spPr>
          <a:xfrm>
            <a:off x="350050" y="2046125"/>
            <a:ext cx="8251800" cy="54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000">
                <a:solidFill>
                  <a:schemeClr val="accent3"/>
                </a:solidFill>
                <a:latin typeface="Nunito"/>
                <a:ea typeface="Nunito"/>
                <a:cs typeface="Nunito"/>
                <a:sym typeface="Nunito"/>
              </a:rPr>
              <a:t>MVP</a:t>
            </a:r>
            <a:r>
              <a:rPr b="1" lang="fr" sz="1000">
                <a:solidFill>
                  <a:schemeClr val="accent3"/>
                </a:solidFill>
                <a:latin typeface="Nunito"/>
                <a:ea typeface="Nunito"/>
                <a:cs typeface="Nunito"/>
                <a:sym typeface="Nunito"/>
              </a:rPr>
              <a:t>:</a:t>
            </a:r>
            <a:r>
              <a:rPr lang="fr" sz="1000">
                <a:solidFill>
                  <a:schemeClr val="dk2"/>
                </a:solidFill>
                <a:latin typeface="Nunito"/>
                <a:ea typeface="Nunito"/>
                <a:cs typeface="Nunito"/>
                <a:sym typeface="Nunito"/>
              </a:rPr>
              <a:t> </a:t>
            </a:r>
            <a:r>
              <a:rPr lang="fr" sz="1000">
                <a:solidFill>
                  <a:schemeClr val="dk2"/>
                </a:solidFill>
                <a:latin typeface="Nunito"/>
                <a:ea typeface="Nunito"/>
                <a:cs typeface="Nunito"/>
                <a:sym typeface="Nunito"/>
              </a:rPr>
              <a:t>Un produit minimum viable est une version simplifiée d’un produit, avec juste les fonctionnalités essentielles pour être utilisé par les premiers utilisateurs. Il permet de tester rapidement l’intérêt et la valeur du produit avant de poursuivre le développement.</a:t>
            </a:r>
            <a:endParaRPr sz="1000">
              <a:solidFill>
                <a:schemeClr val="dk2"/>
              </a:solidFill>
              <a:latin typeface="Nunito"/>
              <a:ea typeface="Nunito"/>
              <a:cs typeface="Nunito"/>
              <a:sym typeface="Nunito"/>
            </a:endParaRPr>
          </a:p>
        </p:txBody>
      </p:sp>
      <p:sp>
        <p:nvSpPr>
          <p:cNvPr id="57" name="Google Shape;57;p13"/>
          <p:cNvSpPr txBox="1"/>
          <p:nvPr/>
        </p:nvSpPr>
        <p:spPr>
          <a:xfrm>
            <a:off x="391800" y="2774825"/>
            <a:ext cx="8251800" cy="54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000">
                <a:solidFill>
                  <a:schemeClr val="accent3"/>
                </a:solidFill>
                <a:latin typeface="Nunito"/>
                <a:ea typeface="Nunito"/>
                <a:cs typeface="Nunito"/>
                <a:sym typeface="Nunito"/>
              </a:rPr>
              <a:t>Comité de Projet</a:t>
            </a:r>
            <a:r>
              <a:rPr b="1" lang="fr" sz="1000">
                <a:solidFill>
                  <a:schemeClr val="accent3"/>
                </a:solidFill>
                <a:latin typeface="Nunito"/>
                <a:ea typeface="Nunito"/>
                <a:cs typeface="Nunito"/>
                <a:sym typeface="Nunito"/>
              </a:rPr>
              <a:t>:</a:t>
            </a:r>
            <a:r>
              <a:rPr lang="fr" sz="1000">
                <a:solidFill>
                  <a:schemeClr val="dk2"/>
                </a:solidFill>
                <a:latin typeface="Nunito"/>
                <a:ea typeface="Nunito"/>
                <a:cs typeface="Nunito"/>
                <a:sym typeface="Nunito"/>
              </a:rPr>
              <a:t> </a:t>
            </a:r>
            <a:r>
              <a:rPr lang="fr" sz="1000">
                <a:solidFill>
                  <a:schemeClr val="dk2"/>
                </a:solidFill>
                <a:latin typeface="Nunito"/>
                <a:ea typeface="Nunito"/>
                <a:cs typeface="Nunito"/>
                <a:sym typeface="Nunito"/>
              </a:rPr>
              <a:t>Le comité de pilotage regroupe les décideurs du projet. Il se réunit régulièrement pour suivre l’avancement, valider les grandes étapes et prendre des décisions stratégiques.</a:t>
            </a:r>
            <a:endParaRPr sz="1000">
              <a:solidFill>
                <a:schemeClr val="dk2"/>
              </a:solidFill>
              <a:latin typeface="Nunito"/>
              <a:ea typeface="Nunito"/>
              <a:cs typeface="Nunito"/>
              <a:sym typeface="Nunito"/>
            </a:endParaRPr>
          </a:p>
        </p:txBody>
      </p:sp>
      <p:sp>
        <p:nvSpPr>
          <p:cNvPr id="58" name="Google Shape;58;p13"/>
          <p:cNvSpPr txBox="1"/>
          <p:nvPr/>
        </p:nvSpPr>
        <p:spPr>
          <a:xfrm>
            <a:off x="414950" y="3503525"/>
            <a:ext cx="8251800" cy="54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000">
                <a:solidFill>
                  <a:schemeClr val="accent3"/>
                </a:solidFill>
                <a:latin typeface="Nunito"/>
                <a:ea typeface="Nunito"/>
                <a:cs typeface="Nunito"/>
                <a:sym typeface="Nunito"/>
              </a:rPr>
              <a:t>Comité de Pilotage:</a:t>
            </a:r>
            <a:r>
              <a:rPr lang="fr" sz="1000">
                <a:solidFill>
                  <a:schemeClr val="dk2"/>
                </a:solidFill>
                <a:latin typeface="Nunito"/>
                <a:ea typeface="Nunito"/>
                <a:cs typeface="Nunito"/>
                <a:sym typeface="Nunito"/>
              </a:rPr>
              <a:t> </a:t>
            </a:r>
            <a:r>
              <a:rPr lang="fr" sz="1000">
                <a:solidFill>
                  <a:schemeClr val="dk2"/>
                </a:solidFill>
                <a:latin typeface="Nunito"/>
                <a:ea typeface="Nunito"/>
                <a:cs typeface="Nunito"/>
                <a:sym typeface="Nunito"/>
              </a:rPr>
              <a:t>Le comité projet réunit les membres opérationnels du projet. Il permet de coordonner le travail, résoudre les problèmes au fil de l’eau et ajuster la planification si besoin.</a:t>
            </a:r>
            <a:endParaRPr sz="1000">
              <a:solidFill>
                <a:schemeClr val="dk2"/>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1303800" y="598575"/>
            <a:ext cx="7568400" cy="582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Timeline du projet Data Science/IA</a:t>
            </a:r>
            <a:endParaRPr/>
          </a:p>
          <a:p>
            <a:pPr indent="0" lvl="0" marL="0" rtl="0" algn="l">
              <a:spcBef>
                <a:spcPts val="0"/>
              </a:spcBef>
              <a:spcAft>
                <a:spcPts val="0"/>
              </a:spcAft>
              <a:buNone/>
            </a:pPr>
            <a:r>
              <a:t/>
            </a:r>
            <a:endParaRPr/>
          </a:p>
        </p:txBody>
      </p:sp>
      <p:sp>
        <p:nvSpPr>
          <p:cNvPr id="64" name="Google Shape;64;p14"/>
          <p:cNvSpPr/>
          <p:nvPr/>
        </p:nvSpPr>
        <p:spPr>
          <a:xfrm>
            <a:off x="374463" y="1339586"/>
            <a:ext cx="2772000" cy="216000"/>
          </a:xfrm>
          <a:prstGeom prst="rect">
            <a:avLst/>
          </a:prstGeom>
          <a:solidFill>
            <a:schemeClr val="accent3"/>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100">
                <a:solidFill>
                  <a:srgbClr val="FFFFFF"/>
                </a:solidFill>
                <a:latin typeface="Nunito"/>
                <a:ea typeface="Nunito"/>
                <a:cs typeface="Nunito"/>
                <a:sym typeface="Nunito"/>
              </a:rPr>
              <a:t>X Semaines</a:t>
            </a:r>
            <a:endParaRPr b="1" sz="1300">
              <a:latin typeface="Nunito"/>
              <a:ea typeface="Nunito"/>
              <a:cs typeface="Nunito"/>
              <a:sym typeface="Nunito"/>
            </a:endParaRPr>
          </a:p>
        </p:txBody>
      </p:sp>
      <p:sp>
        <p:nvSpPr>
          <p:cNvPr id="65" name="Google Shape;65;p14"/>
          <p:cNvSpPr/>
          <p:nvPr/>
        </p:nvSpPr>
        <p:spPr>
          <a:xfrm>
            <a:off x="3146463" y="1339586"/>
            <a:ext cx="2772000" cy="216000"/>
          </a:xfrm>
          <a:prstGeom prst="rect">
            <a:avLst/>
          </a:prstGeom>
          <a:solidFill>
            <a:schemeClr val="accent3"/>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100">
                <a:solidFill>
                  <a:srgbClr val="FFFFFF"/>
                </a:solidFill>
                <a:latin typeface="Nunito"/>
                <a:ea typeface="Nunito"/>
                <a:cs typeface="Nunito"/>
                <a:sym typeface="Nunito"/>
              </a:rPr>
              <a:t>Y Semaines</a:t>
            </a:r>
            <a:endParaRPr b="1" sz="1300">
              <a:latin typeface="Nunito"/>
              <a:ea typeface="Nunito"/>
              <a:cs typeface="Nunito"/>
              <a:sym typeface="Nunito"/>
            </a:endParaRPr>
          </a:p>
        </p:txBody>
      </p:sp>
      <p:sp>
        <p:nvSpPr>
          <p:cNvPr id="66" name="Google Shape;66;p14"/>
          <p:cNvSpPr/>
          <p:nvPr/>
        </p:nvSpPr>
        <p:spPr>
          <a:xfrm>
            <a:off x="5918463" y="1339586"/>
            <a:ext cx="2772000" cy="216000"/>
          </a:xfrm>
          <a:prstGeom prst="rect">
            <a:avLst/>
          </a:prstGeom>
          <a:solidFill>
            <a:schemeClr val="accent3"/>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1100">
                <a:solidFill>
                  <a:srgbClr val="FFFFFF"/>
                </a:solidFill>
                <a:latin typeface="Nunito"/>
                <a:ea typeface="Nunito"/>
                <a:cs typeface="Nunito"/>
                <a:sym typeface="Nunito"/>
              </a:rPr>
              <a:t>Z Semaines</a:t>
            </a:r>
            <a:endParaRPr b="1" sz="1300">
              <a:latin typeface="Nunito"/>
              <a:ea typeface="Nunito"/>
              <a:cs typeface="Nunito"/>
              <a:sym typeface="Nunito"/>
            </a:endParaRPr>
          </a:p>
        </p:txBody>
      </p:sp>
      <p:sp>
        <p:nvSpPr>
          <p:cNvPr id="67" name="Google Shape;67;p14"/>
          <p:cNvSpPr/>
          <p:nvPr/>
        </p:nvSpPr>
        <p:spPr>
          <a:xfrm>
            <a:off x="265499" y="1569776"/>
            <a:ext cx="253800" cy="253800"/>
          </a:xfrm>
          <a:prstGeom prst="diamond">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Verdana"/>
              <a:buNone/>
            </a:pPr>
            <a:r>
              <a:t/>
            </a:r>
            <a:endParaRPr b="0" i="0" sz="1400" u="none" cap="none" strike="noStrike">
              <a:solidFill>
                <a:srgbClr val="3F3F3F"/>
              </a:solidFill>
              <a:latin typeface="Calibri"/>
              <a:ea typeface="Calibri"/>
              <a:cs typeface="Calibri"/>
              <a:sym typeface="Calibri"/>
            </a:endParaRPr>
          </a:p>
        </p:txBody>
      </p:sp>
      <p:sp>
        <p:nvSpPr>
          <p:cNvPr id="68" name="Google Shape;68;p14"/>
          <p:cNvSpPr/>
          <p:nvPr/>
        </p:nvSpPr>
        <p:spPr>
          <a:xfrm>
            <a:off x="6764584" y="4881201"/>
            <a:ext cx="219900" cy="219900"/>
          </a:xfrm>
          <a:prstGeom prst="diamond">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Verdana"/>
              <a:buNone/>
            </a:pPr>
            <a:r>
              <a:t/>
            </a:r>
            <a:endParaRPr b="0" i="0" sz="1400" u="none" cap="none" strike="noStrike">
              <a:solidFill>
                <a:srgbClr val="3F3F3F"/>
              </a:solidFill>
              <a:latin typeface="Calibri"/>
              <a:ea typeface="Calibri"/>
              <a:cs typeface="Calibri"/>
              <a:sym typeface="Calibri"/>
            </a:endParaRPr>
          </a:p>
        </p:txBody>
      </p:sp>
      <p:sp>
        <p:nvSpPr>
          <p:cNvPr id="69" name="Google Shape;69;p14"/>
          <p:cNvSpPr txBox="1"/>
          <p:nvPr/>
        </p:nvSpPr>
        <p:spPr>
          <a:xfrm>
            <a:off x="6964425" y="4861175"/>
            <a:ext cx="1120200" cy="200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700">
                <a:latin typeface="Nunito"/>
                <a:ea typeface="Nunito"/>
                <a:cs typeface="Nunito"/>
                <a:sym typeface="Nunito"/>
              </a:rPr>
              <a:t>Copil</a:t>
            </a:r>
            <a:endParaRPr sz="700">
              <a:latin typeface="Nunito"/>
              <a:ea typeface="Nunito"/>
              <a:cs typeface="Nunito"/>
              <a:sym typeface="Nunito"/>
            </a:endParaRPr>
          </a:p>
        </p:txBody>
      </p:sp>
      <p:sp>
        <p:nvSpPr>
          <p:cNvPr id="70" name="Google Shape;70;p14"/>
          <p:cNvSpPr/>
          <p:nvPr/>
        </p:nvSpPr>
        <p:spPr>
          <a:xfrm>
            <a:off x="7855556" y="4881201"/>
            <a:ext cx="219900" cy="219900"/>
          </a:xfrm>
          <a:prstGeom prst="diamond">
            <a:avLst/>
          </a:prstGeom>
          <a:solidFill>
            <a:srgbClr val="00385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Verdana"/>
              <a:buNone/>
            </a:pPr>
            <a:r>
              <a:t/>
            </a:r>
            <a:endParaRPr b="0" i="0" sz="1400" u="none" cap="none" strike="noStrike">
              <a:solidFill>
                <a:srgbClr val="3F3F3F"/>
              </a:solidFill>
              <a:latin typeface="Calibri"/>
              <a:ea typeface="Calibri"/>
              <a:cs typeface="Calibri"/>
              <a:sym typeface="Calibri"/>
            </a:endParaRPr>
          </a:p>
        </p:txBody>
      </p:sp>
      <p:sp>
        <p:nvSpPr>
          <p:cNvPr id="71" name="Google Shape;71;p14"/>
          <p:cNvSpPr txBox="1"/>
          <p:nvPr/>
        </p:nvSpPr>
        <p:spPr>
          <a:xfrm>
            <a:off x="8055400" y="4861175"/>
            <a:ext cx="1056300" cy="200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 sz="700">
                <a:latin typeface="Nunito"/>
                <a:ea typeface="Nunito"/>
                <a:cs typeface="Nunito"/>
                <a:sym typeface="Nunito"/>
              </a:rPr>
              <a:t>Coproj</a:t>
            </a:r>
            <a:endParaRPr sz="700">
              <a:latin typeface="Nunito"/>
              <a:ea typeface="Nunito"/>
              <a:cs typeface="Nunito"/>
              <a:sym typeface="Nunito"/>
            </a:endParaRPr>
          </a:p>
        </p:txBody>
      </p:sp>
      <p:sp>
        <p:nvSpPr>
          <p:cNvPr id="72" name="Google Shape;72;p14"/>
          <p:cNvSpPr/>
          <p:nvPr/>
        </p:nvSpPr>
        <p:spPr>
          <a:xfrm>
            <a:off x="387600" y="2269100"/>
            <a:ext cx="2682600" cy="1664700"/>
          </a:xfrm>
          <a:prstGeom prst="rect">
            <a:avLst/>
          </a:prstGeom>
          <a:solidFill>
            <a:schemeClr val="accent3"/>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FFFF"/>
              </a:solidFill>
              <a:latin typeface="Verdana"/>
              <a:ea typeface="Verdana"/>
              <a:cs typeface="Verdana"/>
              <a:sym typeface="Verdana"/>
            </a:endParaRPr>
          </a:p>
        </p:txBody>
      </p:sp>
      <p:sp>
        <p:nvSpPr>
          <p:cNvPr id="73" name="Google Shape;73;p14"/>
          <p:cNvSpPr/>
          <p:nvPr/>
        </p:nvSpPr>
        <p:spPr>
          <a:xfrm>
            <a:off x="370875" y="1893775"/>
            <a:ext cx="2699400" cy="336000"/>
          </a:xfrm>
          <a:prstGeom prst="rect">
            <a:avLst/>
          </a:prstGeom>
          <a:solidFill>
            <a:schemeClr val="accent3"/>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900">
                <a:solidFill>
                  <a:srgbClr val="FFFFFF"/>
                </a:solidFill>
                <a:latin typeface="Nunito"/>
                <a:ea typeface="Nunito"/>
                <a:cs typeface="Nunito"/>
                <a:sym typeface="Nunito"/>
              </a:rPr>
              <a:t>POC</a:t>
            </a:r>
            <a:endParaRPr sz="900">
              <a:latin typeface="Nunito"/>
              <a:ea typeface="Nunito"/>
              <a:cs typeface="Nunito"/>
              <a:sym typeface="Nunito"/>
            </a:endParaRPr>
          </a:p>
          <a:p>
            <a:pPr indent="0" lvl="0" marL="0" marR="0" rtl="0" algn="ctr">
              <a:spcBef>
                <a:spcPts val="0"/>
              </a:spcBef>
              <a:spcAft>
                <a:spcPts val="0"/>
              </a:spcAft>
              <a:buNone/>
            </a:pPr>
            <a:r>
              <a:rPr b="1" lang="fr" sz="900">
                <a:solidFill>
                  <a:srgbClr val="FFFFFF"/>
                </a:solidFill>
                <a:latin typeface="Nunito"/>
                <a:ea typeface="Nunito"/>
                <a:cs typeface="Nunito"/>
                <a:sym typeface="Nunito"/>
              </a:rPr>
              <a:t>Focus sur un périmètre pilote</a:t>
            </a:r>
            <a:endParaRPr sz="900">
              <a:latin typeface="Nunito"/>
              <a:ea typeface="Nunito"/>
              <a:cs typeface="Nunito"/>
              <a:sym typeface="Nunito"/>
            </a:endParaRPr>
          </a:p>
        </p:txBody>
      </p:sp>
      <p:sp>
        <p:nvSpPr>
          <p:cNvPr id="74" name="Google Shape;74;p14"/>
          <p:cNvSpPr/>
          <p:nvPr/>
        </p:nvSpPr>
        <p:spPr>
          <a:xfrm>
            <a:off x="452400" y="2365050"/>
            <a:ext cx="2537400" cy="219900"/>
          </a:xfrm>
          <a:prstGeom prst="roundRect">
            <a:avLst>
              <a:gd fmla="val 16667" name="adj"/>
            </a:avLst>
          </a:prstGeom>
          <a:solidFill>
            <a:srgbClr val="FFFFFF"/>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F3F3F"/>
              </a:buClr>
              <a:buSzPts val="1000"/>
              <a:buFont typeface="Calibri"/>
              <a:buNone/>
            </a:pPr>
            <a:r>
              <a:rPr b="1" lang="fr" sz="700">
                <a:solidFill>
                  <a:srgbClr val="3F3F3F"/>
                </a:solidFill>
                <a:latin typeface="Nunito"/>
                <a:ea typeface="Nunito"/>
                <a:cs typeface="Nunito"/>
                <a:sym typeface="Nunito"/>
              </a:rPr>
              <a:t>Tâche</a:t>
            </a:r>
            <a:r>
              <a:rPr b="1" lang="fr" sz="700">
                <a:solidFill>
                  <a:srgbClr val="3F3F3F"/>
                </a:solidFill>
                <a:latin typeface="Nunito"/>
                <a:ea typeface="Nunito"/>
                <a:cs typeface="Nunito"/>
                <a:sym typeface="Nunito"/>
              </a:rPr>
              <a:t> 1</a:t>
            </a:r>
            <a:endParaRPr b="1" i="0" sz="700" u="none" cap="none" strike="noStrike">
              <a:solidFill>
                <a:srgbClr val="3F3F3F"/>
              </a:solidFill>
              <a:latin typeface="Nunito"/>
              <a:ea typeface="Nunito"/>
              <a:cs typeface="Nunito"/>
              <a:sym typeface="Nunito"/>
            </a:endParaRPr>
          </a:p>
        </p:txBody>
      </p:sp>
      <p:sp>
        <p:nvSpPr>
          <p:cNvPr id="75" name="Google Shape;75;p14"/>
          <p:cNvSpPr/>
          <p:nvPr/>
        </p:nvSpPr>
        <p:spPr>
          <a:xfrm>
            <a:off x="473100" y="2692522"/>
            <a:ext cx="2537400" cy="219900"/>
          </a:xfrm>
          <a:prstGeom prst="roundRect">
            <a:avLst>
              <a:gd fmla="val 16667" name="adj"/>
            </a:avLst>
          </a:prstGeom>
          <a:solidFill>
            <a:srgbClr val="FFFFFF"/>
          </a:solidFill>
          <a:ln>
            <a:noFill/>
          </a:ln>
        </p:spPr>
        <p:txBody>
          <a:bodyPr anchorCtr="0" anchor="ctr" bIns="45700" lIns="0" spcFirstLastPara="1" rIns="0" wrap="square" tIns="45700">
            <a:noAutofit/>
          </a:bodyPr>
          <a:lstStyle/>
          <a:p>
            <a:pPr indent="0" lvl="0" marL="0" rtl="0" algn="ctr">
              <a:spcBef>
                <a:spcPts val="0"/>
              </a:spcBef>
              <a:spcAft>
                <a:spcPts val="0"/>
              </a:spcAft>
              <a:buClr>
                <a:srgbClr val="3F3F3F"/>
              </a:buClr>
              <a:buSzPts val="1000"/>
              <a:buFont typeface="Calibri"/>
              <a:buNone/>
            </a:pPr>
            <a:r>
              <a:rPr b="1" lang="fr" sz="700">
                <a:solidFill>
                  <a:srgbClr val="3F3F3F"/>
                </a:solidFill>
                <a:latin typeface="Nunito"/>
                <a:ea typeface="Nunito"/>
                <a:cs typeface="Nunito"/>
                <a:sym typeface="Nunito"/>
              </a:rPr>
              <a:t>Tâche 2</a:t>
            </a:r>
            <a:endParaRPr b="1" i="0" sz="700" u="none" cap="none" strike="noStrike">
              <a:solidFill>
                <a:srgbClr val="3F3F3F"/>
              </a:solidFill>
              <a:latin typeface="Nunito"/>
              <a:ea typeface="Nunito"/>
              <a:cs typeface="Nunito"/>
              <a:sym typeface="Nunito"/>
            </a:endParaRPr>
          </a:p>
        </p:txBody>
      </p:sp>
      <p:sp>
        <p:nvSpPr>
          <p:cNvPr id="76" name="Google Shape;76;p14"/>
          <p:cNvSpPr/>
          <p:nvPr/>
        </p:nvSpPr>
        <p:spPr>
          <a:xfrm>
            <a:off x="451875" y="2993875"/>
            <a:ext cx="2537400" cy="336000"/>
          </a:xfrm>
          <a:prstGeom prst="roundRect">
            <a:avLst>
              <a:gd fmla="val 16667" name="adj"/>
            </a:avLst>
          </a:prstGeom>
          <a:solidFill>
            <a:srgbClr val="FFFFFF"/>
          </a:solidFill>
          <a:ln>
            <a:noFill/>
          </a:ln>
        </p:spPr>
        <p:txBody>
          <a:bodyPr anchorCtr="0" anchor="ctr" bIns="45700" lIns="0" spcFirstLastPara="1" rIns="0" wrap="square" tIns="45700">
            <a:noAutofit/>
          </a:bodyPr>
          <a:lstStyle/>
          <a:p>
            <a:pPr indent="0" lvl="0" marL="0" rtl="0" algn="ctr">
              <a:spcBef>
                <a:spcPts val="0"/>
              </a:spcBef>
              <a:spcAft>
                <a:spcPts val="0"/>
              </a:spcAft>
              <a:buClr>
                <a:srgbClr val="3F3F3F"/>
              </a:buClr>
              <a:buSzPts val="1000"/>
              <a:buFont typeface="Calibri"/>
              <a:buNone/>
            </a:pPr>
            <a:r>
              <a:rPr b="1" lang="fr" sz="700">
                <a:solidFill>
                  <a:srgbClr val="3F3F3F"/>
                </a:solidFill>
                <a:latin typeface="Nunito"/>
                <a:ea typeface="Nunito"/>
                <a:cs typeface="Nunito"/>
                <a:sym typeface="Nunito"/>
              </a:rPr>
              <a:t>Tâche 3</a:t>
            </a:r>
            <a:endParaRPr b="1" i="0" sz="700" u="none" cap="none" strike="noStrike">
              <a:solidFill>
                <a:srgbClr val="3F3F3F"/>
              </a:solidFill>
              <a:latin typeface="Nunito"/>
              <a:ea typeface="Nunito"/>
              <a:cs typeface="Nunito"/>
              <a:sym typeface="Nunito"/>
            </a:endParaRPr>
          </a:p>
        </p:txBody>
      </p:sp>
      <p:sp>
        <p:nvSpPr>
          <p:cNvPr id="77" name="Google Shape;77;p14"/>
          <p:cNvSpPr/>
          <p:nvPr/>
        </p:nvSpPr>
        <p:spPr>
          <a:xfrm>
            <a:off x="451875" y="3411300"/>
            <a:ext cx="2537400" cy="246300"/>
          </a:xfrm>
          <a:prstGeom prst="roundRect">
            <a:avLst>
              <a:gd fmla="val 16667" name="adj"/>
            </a:avLst>
          </a:prstGeom>
          <a:solidFill>
            <a:srgbClr val="FFFFFF"/>
          </a:solidFill>
          <a:ln>
            <a:noFill/>
          </a:ln>
        </p:spPr>
        <p:txBody>
          <a:bodyPr anchorCtr="0" anchor="ctr" bIns="45700" lIns="0" spcFirstLastPara="1" rIns="0" wrap="square" tIns="45700">
            <a:noAutofit/>
          </a:bodyPr>
          <a:lstStyle/>
          <a:p>
            <a:pPr indent="0" lvl="0" marL="0" rtl="0" algn="ctr">
              <a:spcBef>
                <a:spcPts val="0"/>
              </a:spcBef>
              <a:spcAft>
                <a:spcPts val="0"/>
              </a:spcAft>
              <a:buClr>
                <a:srgbClr val="3F3F3F"/>
              </a:buClr>
              <a:buSzPts val="1000"/>
              <a:buFont typeface="Calibri"/>
              <a:buNone/>
            </a:pPr>
            <a:r>
              <a:rPr b="1" lang="fr" sz="700">
                <a:solidFill>
                  <a:srgbClr val="3F3F3F"/>
                </a:solidFill>
                <a:latin typeface="Nunito"/>
                <a:ea typeface="Nunito"/>
                <a:cs typeface="Nunito"/>
                <a:sym typeface="Nunito"/>
              </a:rPr>
              <a:t>Tâche 4</a:t>
            </a:r>
            <a:endParaRPr b="1" i="0" sz="700" u="none" cap="none" strike="noStrike">
              <a:solidFill>
                <a:srgbClr val="3F3F3F"/>
              </a:solidFill>
              <a:latin typeface="Nunito"/>
              <a:ea typeface="Nunito"/>
              <a:cs typeface="Nunito"/>
              <a:sym typeface="Nunito"/>
            </a:endParaRPr>
          </a:p>
        </p:txBody>
      </p:sp>
      <p:sp>
        <p:nvSpPr>
          <p:cNvPr id="78" name="Google Shape;78;p14"/>
          <p:cNvSpPr/>
          <p:nvPr/>
        </p:nvSpPr>
        <p:spPr>
          <a:xfrm>
            <a:off x="3207000" y="2269100"/>
            <a:ext cx="2682600" cy="1664700"/>
          </a:xfrm>
          <a:prstGeom prst="rect">
            <a:avLst/>
          </a:prstGeom>
          <a:solidFill>
            <a:schemeClr val="accent3"/>
          </a:solidFill>
          <a:ln cap="flat"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FFFF"/>
              </a:solidFill>
              <a:latin typeface="Verdana"/>
              <a:ea typeface="Verdana"/>
              <a:cs typeface="Verdana"/>
              <a:sym typeface="Verdana"/>
            </a:endParaRPr>
          </a:p>
        </p:txBody>
      </p:sp>
      <p:sp>
        <p:nvSpPr>
          <p:cNvPr id="79" name="Google Shape;79;p14"/>
          <p:cNvSpPr/>
          <p:nvPr/>
        </p:nvSpPr>
        <p:spPr>
          <a:xfrm>
            <a:off x="3190275" y="1893775"/>
            <a:ext cx="2699400" cy="336000"/>
          </a:xfrm>
          <a:prstGeom prst="rect">
            <a:avLst/>
          </a:prstGeom>
          <a:solidFill>
            <a:schemeClr val="accent3"/>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900">
                <a:solidFill>
                  <a:srgbClr val="FFFFFF"/>
                </a:solidFill>
                <a:latin typeface="Nunito"/>
                <a:ea typeface="Nunito"/>
                <a:cs typeface="Nunito"/>
                <a:sym typeface="Nunito"/>
              </a:rPr>
              <a:t>MVP</a:t>
            </a:r>
            <a:r>
              <a:rPr b="1" lang="fr" sz="900">
                <a:solidFill>
                  <a:srgbClr val="FFFFFF"/>
                </a:solidFill>
                <a:latin typeface="Nunito"/>
                <a:ea typeface="Nunito"/>
                <a:cs typeface="Nunito"/>
                <a:sym typeface="Nunito"/>
              </a:rPr>
              <a:t> </a:t>
            </a:r>
            <a:endParaRPr sz="900">
              <a:latin typeface="Nunito"/>
              <a:ea typeface="Nunito"/>
              <a:cs typeface="Nunito"/>
              <a:sym typeface="Nunito"/>
            </a:endParaRPr>
          </a:p>
        </p:txBody>
      </p:sp>
      <p:sp>
        <p:nvSpPr>
          <p:cNvPr id="80" name="Google Shape;80;p14"/>
          <p:cNvSpPr/>
          <p:nvPr/>
        </p:nvSpPr>
        <p:spPr>
          <a:xfrm>
            <a:off x="3271800" y="2365050"/>
            <a:ext cx="2537400" cy="219900"/>
          </a:xfrm>
          <a:prstGeom prst="roundRect">
            <a:avLst>
              <a:gd fmla="val 16667" name="adj"/>
            </a:avLst>
          </a:prstGeom>
          <a:solidFill>
            <a:srgbClr val="FFFFFF"/>
          </a:solidFill>
          <a:ln>
            <a:noFill/>
          </a:ln>
        </p:spPr>
        <p:txBody>
          <a:bodyPr anchorCtr="0" anchor="ctr" bIns="45700" lIns="0" spcFirstLastPara="1" rIns="0" wrap="square" tIns="45700">
            <a:noAutofit/>
          </a:bodyPr>
          <a:lstStyle/>
          <a:p>
            <a:pPr indent="0" lvl="0" marL="0" rtl="0" algn="ctr">
              <a:spcBef>
                <a:spcPts val="0"/>
              </a:spcBef>
              <a:spcAft>
                <a:spcPts val="0"/>
              </a:spcAft>
              <a:buClr>
                <a:srgbClr val="3F3F3F"/>
              </a:buClr>
              <a:buSzPts val="1000"/>
              <a:buFont typeface="Calibri"/>
              <a:buNone/>
            </a:pPr>
            <a:r>
              <a:rPr b="1" lang="fr" sz="700">
                <a:solidFill>
                  <a:srgbClr val="3F3F3F"/>
                </a:solidFill>
                <a:latin typeface="Nunito"/>
                <a:ea typeface="Nunito"/>
                <a:cs typeface="Nunito"/>
                <a:sym typeface="Nunito"/>
              </a:rPr>
              <a:t>Tâche 1</a:t>
            </a:r>
            <a:endParaRPr b="1" sz="700">
              <a:solidFill>
                <a:srgbClr val="3F3F3F"/>
              </a:solidFill>
              <a:latin typeface="Nunito"/>
              <a:ea typeface="Nunito"/>
              <a:cs typeface="Nunito"/>
              <a:sym typeface="Nunito"/>
            </a:endParaRPr>
          </a:p>
        </p:txBody>
      </p:sp>
      <p:sp>
        <p:nvSpPr>
          <p:cNvPr id="81" name="Google Shape;81;p14"/>
          <p:cNvSpPr/>
          <p:nvPr/>
        </p:nvSpPr>
        <p:spPr>
          <a:xfrm>
            <a:off x="3292500" y="2692522"/>
            <a:ext cx="2537400" cy="219900"/>
          </a:xfrm>
          <a:prstGeom prst="roundRect">
            <a:avLst>
              <a:gd fmla="val 16667" name="adj"/>
            </a:avLst>
          </a:prstGeom>
          <a:solidFill>
            <a:srgbClr val="FFFFFF"/>
          </a:solidFill>
          <a:ln>
            <a:noFill/>
          </a:ln>
        </p:spPr>
        <p:txBody>
          <a:bodyPr anchorCtr="0" anchor="ctr" bIns="45700" lIns="0" spcFirstLastPara="1" rIns="0" wrap="square" tIns="45700">
            <a:noAutofit/>
          </a:bodyPr>
          <a:lstStyle/>
          <a:p>
            <a:pPr indent="0" lvl="0" marL="0" rtl="0" algn="ctr">
              <a:spcBef>
                <a:spcPts val="0"/>
              </a:spcBef>
              <a:spcAft>
                <a:spcPts val="0"/>
              </a:spcAft>
              <a:buClr>
                <a:srgbClr val="3F3F3F"/>
              </a:buClr>
              <a:buSzPts val="1000"/>
              <a:buFont typeface="Calibri"/>
              <a:buNone/>
            </a:pPr>
            <a:r>
              <a:rPr b="1" lang="fr" sz="700">
                <a:solidFill>
                  <a:srgbClr val="3F3F3F"/>
                </a:solidFill>
                <a:latin typeface="Nunito"/>
                <a:ea typeface="Nunito"/>
                <a:cs typeface="Nunito"/>
                <a:sym typeface="Nunito"/>
              </a:rPr>
              <a:t>Tâche 2</a:t>
            </a:r>
            <a:endParaRPr b="1" sz="700">
              <a:solidFill>
                <a:srgbClr val="3F3F3F"/>
              </a:solidFill>
              <a:latin typeface="Nunito"/>
              <a:ea typeface="Nunito"/>
              <a:cs typeface="Nunito"/>
              <a:sym typeface="Nunito"/>
            </a:endParaRPr>
          </a:p>
        </p:txBody>
      </p:sp>
      <p:sp>
        <p:nvSpPr>
          <p:cNvPr id="82" name="Google Shape;82;p14"/>
          <p:cNvSpPr/>
          <p:nvPr/>
        </p:nvSpPr>
        <p:spPr>
          <a:xfrm>
            <a:off x="3271275" y="3019997"/>
            <a:ext cx="2537400" cy="246300"/>
          </a:xfrm>
          <a:prstGeom prst="roundRect">
            <a:avLst>
              <a:gd fmla="val 16667" name="adj"/>
            </a:avLst>
          </a:prstGeom>
          <a:solidFill>
            <a:srgbClr val="FFFFFF"/>
          </a:solidFill>
          <a:ln>
            <a:noFill/>
          </a:ln>
        </p:spPr>
        <p:txBody>
          <a:bodyPr anchorCtr="0" anchor="ctr" bIns="45700" lIns="0" spcFirstLastPara="1" rIns="0" wrap="square" tIns="45700">
            <a:noAutofit/>
          </a:bodyPr>
          <a:lstStyle/>
          <a:p>
            <a:pPr indent="0" lvl="0" marL="0" rtl="0" algn="ctr">
              <a:spcBef>
                <a:spcPts val="0"/>
              </a:spcBef>
              <a:spcAft>
                <a:spcPts val="0"/>
              </a:spcAft>
              <a:buClr>
                <a:srgbClr val="3F3F3F"/>
              </a:buClr>
              <a:buSzPts val="1000"/>
              <a:buFont typeface="Calibri"/>
              <a:buNone/>
            </a:pPr>
            <a:r>
              <a:rPr b="1" lang="fr" sz="700">
                <a:solidFill>
                  <a:srgbClr val="3F3F3F"/>
                </a:solidFill>
                <a:latin typeface="Nunito"/>
                <a:ea typeface="Nunito"/>
                <a:cs typeface="Nunito"/>
                <a:sym typeface="Nunito"/>
              </a:rPr>
              <a:t>Tâche 3</a:t>
            </a:r>
            <a:endParaRPr b="1" sz="700">
              <a:solidFill>
                <a:srgbClr val="3F3F3F"/>
              </a:solidFill>
              <a:latin typeface="Nunito"/>
              <a:ea typeface="Nunito"/>
              <a:cs typeface="Nunito"/>
              <a:sym typeface="Nunito"/>
            </a:endParaRPr>
          </a:p>
        </p:txBody>
      </p:sp>
      <p:sp>
        <p:nvSpPr>
          <p:cNvPr id="83" name="Google Shape;83;p14"/>
          <p:cNvSpPr/>
          <p:nvPr/>
        </p:nvSpPr>
        <p:spPr>
          <a:xfrm>
            <a:off x="3271275" y="3335100"/>
            <a:ext cx="2537400" cy="246300"/>
          </a:xfrm>
          <a:prstGeom prst="roundRect">
            <a:avLst>
              <a:gd fmla="val 16667" name="adj"/>
            </a:avLst>
          </a:prstGeom>
          <a:solidFill>
            <a:srgbClr val="FFFFFF"/>
          </a:solidFill>
          <a:ln>
            <a:noFill/>
          </a:ln>
        </p:spPr>
        <p:txBody>
          <a:bodyPr anchorCtr="0" anchor="ctr" bIns="45700" lIns="0" spcFirstLastPara="1" rIns="0" wrap="square" tIns="45700">
            <a:noAutofit/>
          </a:bodyPr>
          <a:lstStyle/>
          <a:p>
            <a:pPr indent="0" lvl="0" marL="0" rtl="0" algn="ctr">
              <a:spcBef>
                <a:spcPts val="0"/>
              </a:spcBef>
              <a:spcAft>
                <a:spcPts val="0"/>
              </a:spcAft>
              <a:buClr>
                <a:srgbClr val="3F3F3F"/>
              </a:buClr>
              <a:buSzPts val="1000"/>
              <a:buFont typeface="Calibri"/>
              <a:buNone/>
            </a:pPr>
            <a:r>
              <a:rPr b="1" lang="fr" sz="700">
                <a:solidFill>
                  <a:srgbClr val="3F3F3F"/>
                </a:solidFill>
                <a:latin typeface="Nunito"/>
                <a:ea typeface="Nunito"/>
                <a:cs typeface="Nunito"/>
                <a:sym typeface="Nunito"/>
              </a:rPr>
              <a:t>Tâche 4</a:t>
            </a:r>
            <a:endParaRPr b="1" sz="700">
              <a:solidFill>
                <a:srgbClr val="3F3F3F"/>
              </a:solidFill>
              <a:latin typeface="Nunito"/>
              <a:ea typeface="Nunito"/>
              <a:cs typeface="Nunito"/>
              <a:sym typeface="Nunito"/>
            </a:endParaRPr>
          </a:p>
        </p:txBody>
      </p:sp>
      <p:sp>
        <p:nvSpPr>
          <p:cNvPr id="84" name="Google Shape;84;p14"/>
          <p:cNvSpPr/>
          <p:nvPr/>
        </p:nvSpPr>
        <p:spPr>
          <a:xfrm>
            <a:off x="5947025" y="1893775"/>
            <a:ext cx="2743500" cy="336000"/>
          </a:xfrm>
          <a:prstGeom prst="rect">
            <a:avLst/>
          </a:prstGeom>
          <a:solidFill>
            <a:schemeClr val="accent3"/>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 sz="900">
                <a:solidFill>
                  <a:srgbClr val="FFFFFF"/>
                </a:solidFill>
                <a:latin typeface="Nunito"/>
                <a:ea typeface="Nunito"/>
                <a:cs typeface="Nunito"/>
                <a:sym typeface="Nunito"/>
              </a:rPr>
              <a:t>Run</a:t>
            </a:r>
            <a:r>
              <a:rPr b="1" lang="fr" sz="900">
                <a:solidFill>
                  <a:srgbClr val="FFFFFF"/>
                </a:solidFill>
                <a:latin typeface="Nunito"/>
                <a:ea typeface="Nunito"/>
                <a:cs typeface="Nunito"/>
                <a:sym typeface="Nunito"/>
              </a:rPr>
              <a:t> </a:t>
            </a:r>
            <a:endParaRPr sz="900">
              <a:latin typeface="Nunito"/>
              <a:ea typeface="Nunito"/>
              <a:cs typeface="Nunito"/>
              <a:sym typeface="Nunito"/>
            </a:endParaRPr>
          </a:p>
        </p:txBody>
      </p:sp>
      <p:sp>
        <p:nvSpPr>
          <p:cNvPr id="85" name="Google Shape;85;p14"/>
          <p:cNvSpPr/>
          <p:nvPr/>
        </p:nvSpPr>
        <p:spPr>
          <a:xfrm>
            <a:off x="370875" y="3951175"/>
            <a:ext cx="2699400" cy="544200"/>
          </a:xfrm>
          <a:prstGeom prst="rect">
            <a:avLst/>
          </a:prstGeom>
          <a:solidFill>
            <a:schemeClr val="accent3"/>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 sz="800">
                <a:solidFill>
                  <a:srgbClr val="FFFFFF"/>
                </a:solidFill>
                <a:latin typeface="Nunito"/>
                <a:ea typeface="Nunito"/>
                <a:cs typeface="Nunito"/>
                <a:sym typeface="Nunito"/>
              </a:rPr>
              <a:t>Livrables : </a:t>
            </a:r>
            <a:endParaRPr b="1" sz="800">
              <a:solidFill>
                <a:srgbClr val="FFFFFF"/>
              </a:solidFill>
              <a:latin typeface="Nunito"/>
              <a:ea typeface="Nunito"/>
              <a:cs typeface="Nunito"/>
              <a:sym typeface="Nunito"/>
            </a:endParaRPr>
          </a:p>
          <a:p>
            <a:pPr indent="-279400" lvl="0" marL="457200" marR="0" rtl="0" algn="l">
              <a:spcBef>
                <a:spcPts val="0"/>
              </a:spcBef>
              <a:spcAft>
                <a:spcPts val="0"/>
              </a:spcAft>
              <a:buClr>
                <a:srgbClr val="FFFFFF"/>
              </a:buClr>
              <a:buSzPts val="800"/>
              <a:buFont typeface="Nunito"/>
              <a:buChar char="●"/>
            </a:pPr>
            <a:r>
              <a:rPr b="1" lang="fr" sz="800">
                <a:solidFill>
                  <a:srgbClr val="FFFFFF"/>
                </a:solidFill>
                <a:latin typeface="Nunito"/>
                <a:ea typeface="Nunito"/>
                <a:cs typeface="Nunito"/>
                <a:sym typeface="Nunito"/>
              </a:rPr>
              <a:t>Livrable 1</a:t>
            </a:r>
            <a:endParaRPr b="1" sz="800">
              <a:solidFill>
                <a:srgbClr val="FFFFFF"/>
              </a:solidFill>
              <a:latin typeface="Nunito"/>
              <a:ea typeface="Nunito"/>
              <a:cs typeface="Nunito"/>
              <a:sym typeface="Nunito"/>
            </a:endParaRPr>
          </a:p>
          <a:p>
            <a:pPr indent="-279400" lvl="0" marL="457200" marR="0" rtl="0" algn="l">
              <a:spcBef>
                <a:spcPts val="0"/>
              </a:spcBef>
              <a:spcAft>
                <a:spcPts val="0"/>
              </a:spcAft>
              <a:buClr>
                <a:srgbClr val="FFFFFF"/>
              </a:buClr>
              <a:buSzPts val="800"/>
              <a:buFont typeface="Nunito"/>
              <a:buChar char="●"/>
            </a:pPr>
            <a:r>
              <a:rPr b="1" lang="fr" sz="800">
                <a:solidFill>
                  <a:srgbClr val="FFFFFF"/>
                </a:solidFill>
                <a:latin typeface="Nunito"/>
                <a:ea typeface="Nunito"/>
                <a:cs typeface="Nunito"/>
                <a:sym typeface="Nunito"/>
              </a:rPr>
              <a:t>Livrable 2 </a:t>
            </a:r>
            <a:endParaRPr b="1" sz="800">
              <a:solidFill>
                <a:srgbClr val="FFFFFF"/>
              </a:solidFill>
              <a:latin typeface="Nunito"/>
              <a:ea typeface="Nunito"/>
              <a:cs typeface="Nunito"/>
              <a:sym typeface="Nunito"/>
            </a:endParaRPr>
          </a:p>
          <a:p>
            <a:pPr indent="-279400" lvl="0" marL="457200" marR="0" rtl="0" algn="l">
              <a:spcBef>
                <a:spcPts val="0"/>
              </a:spcBef>
              <a:spcAft>
                <a:spcPts val="0"/>
              </a:spcAft>
              <a:buClr>
                <a:srgbClr val="FFFFFF"/>
              </a:buClr>
              <a:buSzPts val="800"/>
              <a:buFont typeface="Nunito"/>
              <a:buChar char="●"/>
            </a:pPr>
            <a:r>
              <a:rPr b="1" lang="fr" sz="800">
                <a:solidFill>
                  <a:srgbClr val="FFFFFF"/>
                </a:solidFill>
                <a:latin typeface="Nunito"/>
                <a:ea typeface="Nunito"/>
                <a:cs typeface="Nunito"/>
                <a:sym typeface="Nunito"/>
              </a:rPr>
              <a:t>etc.</a:t>
            </a:r>
            <a:endParaRPr b="1" sz="800">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